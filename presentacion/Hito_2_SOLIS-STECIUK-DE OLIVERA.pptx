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4" r:id="rId8"/>
    <p:sldId id="267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8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658368"/>
            <a:ext cx="5349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00582327_477194367750216_7650477771841003899_n - Edi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88" y="731520"/>
            <a:ext cx="195072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770632"/>
            <a:ext cx="4846320" cy="7315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4700" b="1">
                <a:solidFill>
                  <a:srgbClr val="FFFFFF"/>
                </a:solidFill>
                <a:latin typeface="Aptos"/>
              </a:defRPr>
            </a:pPr>
            <a:r>
              <a:t>HITO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4937760" cy="4846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2B7BA"/>
                </a:solidFill>
                <a:latin typeface="Aptos"/>
              </a:defRPr>
            </a:pPr>
            <a:r>
              <a:t>MODELADO UML + C4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4261104"/>
            <a:ext cx="1143000" cy="64008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4581144"/>
            <a:ext cx="5166360" cy="8686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Sistema Integrado de Gestión</a:t>
            </a:r>
          </a:p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Laboratorio de Análisis Clínicos L&amp;A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199632"/>
            <a:ext cx="5577840" cy="2308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Cynthia Tamara Steciuk  ·  Mikaela Victoria Solís  ·  Alan de Olivera</a:t>
            </a:r>
          </a:p>
        </p:txBody>
      </p:sp>
      <p:pic>
        <p:nvPicPr>
          <p:cNvPr id="10" name="Picture 9" descr="Gemini_Generated_Image_zf3emvzf3emvzf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0"/>
            <a:ext cx="5843016" cy="6858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402336"/>
            <a:ext cx="73152" cy="402336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32D"/>
                </a:solidFill>
                <a:latin typeface="Aptos"/>
              </a:defRPr>
            </a:pPr>
            <a:r>
              <a:t>El problema que queremos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941832"/>
            <a:ext cx="10789920" cy="457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1717D"/>
                </a:solidFill>
                <a:latin typeface="Aptos"/>
              </a:defRPr>
            </a:pPr>
            <a:r>
              <a:rPr dirty="0" err="1"/>
              <a:t>Situación</a:t>
            </a:r>
            <a:r>
              <a:rPr dirty="0"/>
              <a:t> </a:t>
            </a:r>
            <a:r>
              <a:rPr dirty="0" err="1"/>
              <a:t>detectada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relevamiento</a:t>
            </a:r>
            <a:r>
              <a:rPr dirty="0"/>
              <a:t> del Laboratorio L&amp;A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36192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36192"/>
            <a:ext cx="54864" cy="18288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700784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01 / Registro fragmentado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67128"/>
            <a:ext cx="4800600" cy="10698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ingreso</a:t>
            </a:r>
            <a:r>
              <a:rPr dirty="0"/>
              <a:t> de </a:t>
            </a:r>
            <a:r>
              <a:rPr dirty="0" err="1"/>
              <a:t>muestras</a:t>
            </a:r>
            <a:r>
              <a:rPr dirty="0"/>
              <a:t> </a:t>
            </a:r>
            <a:r>
              <a:rPr dirty="0" err="1"/>
              <a:t>derivadas</a:t>
            </a:r>
            <a:r>
              <a:rPr dirty="0"/>
              <a:t>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papel</a:t>
            </a:r>
            <a:r>
              <a:rPr dirty="0"/>
              <a:t> y </a:t>
            </a:r>
            <a:r>
              <a:rPr dirty="0" err="1"/>
              <a:t>planillas</a:t>
            </a:r>
            <a:r>
              <a:rPr dirty="0"/>
              <a:t> </a:t>
            </a:r>
            <a:r>
              <a:rPr dirty="0" err="1"/>
              <a:t>básicas</a:t>
            </a:r>
            <a:r>
              <a:rPr dirty="0"/>
              <a:t>. La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incompleta</a:t>
            </a:r>
            <a:r>
              <a:rPr dirty="0"/>
              <a:t> </a:t>
            </a:r>
            <a:r>
              <a:rPr dirty="0" err="1"/>
              <a:t>obliga</a:t>
            </a:r>
            <a:r>
              <a:rPr dirty="0"/>
              <a:t> a </a:t>
            </a:r>
            <a:r>
              <a:rPr dirty="0" err="1"/>
              <a:t>verificar</a:t>
            </a:r>
            <a:r>
              <a:rPr dirty="0"/>
              <a:t> o </a:t>
            </a:r>
            <a:r>
              <a:rPr dirty="0" err="1"/>
              <a:t>corregir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36192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1536192"/>
            <a:ext cx="54864" cy="18288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700784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02 / Seguimiento insuficiente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167128"/>
            <a:ext cx="4800600" cy="10698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Los centros derivantes no siempre reciben una confirmación oportuna. Consultar el estado de una muestra exige intervenciones del personal.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02736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02736"/>
            <a:ext cx="54864" cy="18288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767328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rPr dirty="0"/>
              <a:t>03 / </a:t>
            </a:r>
            <a:r>
              <a:rPr dirty="0" err="1"/>
              <a:t>Demoras</a:t>
            </a:r>
            <a:r>
              <a:rPr dirty="0"/>
              <a:t> y </a:t>
            </a:r>
            <a:r>
              <a:rPr dirty="0" err="1"/>
              <a:t>reprocesos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96112" y="4233672"/>
            <a:ext cx="4800600" cy="10698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rPr dirty="0"/>
              <a:t>La carga manual y la </a:t>
            </a:r>
            <a:r>
              <a:rPr dirty="0" err="1"/>
              <a:t>búsqueda</a:t>
            </a:r>
            <a:r>
              <a:rPr dirty="0"/>
              <a:t> de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consumen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y </a:t>
            </a:r>
            <a:r>
              <a:rPr dirty="0" err="1"/>
              <a:t>aumentan</a:t>
            </a:r>
            <a:r>
              <a:rPr dirty="0"/>
              <a:t> la </a:t>
            </a:r>
            <a:r>
              <a:rPr dirty="0" err="1"/>
              <a:t>posibilidad</a:t>
            </a:r>
            <a:r>
              <a:rPr dirty="0"/>
              <a:t> de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del </a:t>
            </a:r>
            <a:r>
              <a:rPr dirty="0" err="1"/>
              <a:t>paciente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602736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3602736"/>
            <a:ext cx="54864" cy="18288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1072" y="3767328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04 / Información dispersa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233672"/>
            <a:ext cx="4800600" cy="10698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Los resultados, las derivaciones y el control administrativo no se consultan desde un flujo unificado con trazabilidad clara.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78992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5121B"/>
                </a:solidFill>
                <a:latin typeface="Aptos"/>
              </a:defRPr>
            </a:pPr>
            <a:r>
              <a:t>Problema central: gestión y trazabilidad deficientes de las muestras derivadas.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402336"/>
            <a:ext cx="73152" cy="402336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32D"/>
                </a:solidFill>
                <a:latin typeface="Aptos"/>
              </a:defRPr>
            </a:pPr>
            <a:r>
              <a:t>Objetivo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941832"/>
            <a:ext cx="10789920" cy="457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1717D"/>
                </a:solidFill>
                <a:latin typeface="Aptos"/>
              </a:defRPr>
            </a:pPr>
            <a:r>
              <a:t>Qué solución proponemos a partir del diagnóstico y del Hito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490472"/>
            <a:ext cx="10789920" cy="1051560"/>
          </a:xfrm>
          <a:prstGeom prst="roundRect">
            <a:avLst/>
          </a:prstGeom>
          <a:solidFill>
            <a:srgbClr val="75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10149840" cy="685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Centralizar el registro, seguimiento y control de muestras derivadas en un sistema digital, con acceso diferenciado por 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89504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889504"/>
            <a:ext cx="54864" cy="1207008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054096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20440"/>
            <a:ext cx="4800600" cy="4480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Pacientes, solicitudes y muestras con datos consistentes.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2889504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63056" y="2889504"/>
            <a:ext cx="54864" cy="1207008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054096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SEGUIR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520440"/>
            <a:ext cx="4800600" cy="4480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Estados de recepción y procesamiento consultables.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288536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4288536"/>
            <a:ext cx="54864" cy="1207008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4453128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INFORMAR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4919472"/>
            <a:ext cx="4800600" cy="4480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Carga de resultados y confirmación a centros derivantes.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288536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3056" y="4288536"/>
            <a:ext cx="54864" cy="1207008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4453128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ADMINISTRAR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919472"/>
            <a:ext cx="4800600" cy="4480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Usuarios, permisos, reportes y stock de insumos.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961888"/>
            <a:ext cx="10515600" cy="24622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1717D"/>
                </a:solidFill>
                <a:latin typeface="Aptos"/>
              </a:defRPr>
            </a:pPr>
            <a:r>
              <a:rPr dirty="0"/>
              <a:t>Se </a:t>
            </a:r>
            <a:r>
              <a:rPr dirty="0" err="1"/>
              <a:t>trata</a:t>
            </a:r>
            <a:r>
              <a:rPr dirty="0"/>
              <a:t> de un </a:t>
            </a:r>
            <a:r>
              <a:rPr dirty="0" err="1"/>
              <a:t>diseño</a:t>
            </a:r>
            <a:r>
              <a:rPr dirty="0"/>
              <a:t> conceptual.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402336"/>
            <a:ext cx="73152" cy="402336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32D"/>
                </a:solidFill>
                <a:latin typeface="Aptos"/>
              </a:defRPr>
            </a:pPr>
            <a:r>
              <a:t>Requisitos funcionales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5389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2104" y="160020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66420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609344"/>
            <a:ext cx="4069080" cy="7498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El sistema debe permitir al personal administrativo</a:t>
            </a:r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registrar nuevas muestras derivadas.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5389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0216" y="160020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66420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609344"/>
            <a:ext cx="4069080" cy="7498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El sistema debe permitir al bioquímico / técnico</a:t>
            </a:r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consultar el estado de una muestra.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64261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" y="278892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285292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2798064"/>
            <a:ext cx="4069080" cy="7498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permitir</a:t>
            </a:r>
            <a:r>
              <a:rPr dirty="0"/>
              <a:t> al </a:t>
            </a:r>
            <a:r>
              <a:rPr dirty="0" err="1"/>
              <a:t>técnico</a:t>
            </a:r>
            <a:r>
              <a:rPr dirty="0"/>
              <a:t> de </a:t>
            </a:r>
            <a:r>
              <a:rPr dirty="0" err="1"/>
              <a:t>laboratorio</a:t>
            </a:r>
            <a:endParaRPr dirty="0"/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rPr dirty="0" err="1"/>
              <a:t>cargar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64261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0216" y="278892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285292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798064"/>
            <a:ext cx="4069080" cy="7498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El sistema debe permitir al administrador</a:t>
            </a:r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gestionar usuarios y permisos.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83133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2104" y="397764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04164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3986784"/>
            <a:ext cx="4069080" cy="7498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El sistema debe permitir al personal administrativo</a:t>
            </a:r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registrar datos de pacientes.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383133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00216" y="397764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04164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86784"/>
            <a:ext cx="4069080" cy="7498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El sistema debe permitir al administrador</a:t>
            </a:r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generar reportes del sistema.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02005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2104" y="516636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" y="523036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4208" y="5175504"/>
            <a:ext cx="4069080" cy="7498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El sistema debe permitir al personal administrativo</a:t>
            </a:r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controlar el stock de insumos y reactivos.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5020056"/>
            <a:ext cx="5212080" cy="996696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300216" y="5166360"/>
            <a:ext cx="713232" cy="347472"/>
          </a:xfrm>
          <a:prstGeom prst="round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64224" y="5230368"/>
            <a:ext cx="621792" cy="228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RF-08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175504"/>
            <a:ext cx="4069080" cy="76944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permitir</a:t>
            </a:r>
            <a:r>
              <a:rPr dirty="0"/>
              <a:t> al </a:t>
            </a:r>
            <a:r>
              <a:rPr dirty="0" err="1"/>
              <a:t>centro</a:t>
            </a:r>
            <a:r>
              <a:rPr dirty="0"/>
              <a:t> </a:t>
            </a:r>
            <a:r>
              <a:rPr dirty="0" err="1"/>
              <a:t>derivante</a:t>
            </a:r>
            <a:endParaRPr dirty="0"/>
          </a:p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rPr dirty="0" err="1"/>
              <a:t>recibir</a:t>
            </a:r>
            <a:r>
              <a:rPr dirty="0"/>
              <a:t> la </a:t>
            </a:r>
            <a:r>
              <a:rPr dirty="0" err="1"/>
              <a:t>confirmación</a:t>
            </a:r>
            <a:r>
              <a:rPr dirty="0"/>
              <a:t> de </a:t>
            </a:r>
            <a:r>
              <a:rPr dirty="0" err="1"/>
              <a:t>recepción</a:t>
            </a:r>
            <a:r>
              <a:rPr dirty="0"/>
              <a:t> de sus </a:t>
            </a:r>
            <a:r>
              <a:rPr dirty="0" err="1"/>
              <a:t>muestras</a:t>
            </a:r>
            <a:r>
              <a:rPr lang="es-MX" dirty="0"/>
              <a:t> y estado</a:t>
            </a:r>
            <a:r>
              <a:rPr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" y="6291072"/>
            <a:ext cx="10424160" cy="21031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1717D"/>
                </a:solidFill>
                <a:latin typeface="Aptos"/>
              </a:defRPr>
            </a:pPr>
            <a:r>
              <a:t>RF-01 a RF-08 se derivan de las ocho historias de usuario entregadas en el Hito 1.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 animBg="1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402336"/>
            <a:ext cx="73152" cy="402336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32D"/>
                </a:solidFill>
                <a:latin typeface="Aptos"/>
              </a:defRPr>
            </a:pPr>
            <a:r>
              <a:t>Actores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941832"/>
            <a:ext cx="10789920" cy="457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1717D"/>
                </a:solidFill>
                <a:latin typeface="Aptos"/>
              </a:defRPr>
            </a:pPr>
            <a:r>
              <a:t>Roles externos al límite del software, según el Hito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27048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527048"/>
            <a:ext cx="54864" cy="178308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691639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157984"/>
            <a:ext cx="4800600" cy="102412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Configura usuarios, permisos y consulta reportes.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527048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53912" y="1527048"/>
            <a:ext cx="54864" cy="178308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691639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Personal administrativo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57984"/>
            <a:ext cx="4800600" cy="102412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Registra pacientes, muestras, documentación y stock.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538728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538728"/>
            <a:ext cx="54864" cy="178308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" y="370332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Bioquímico / técnico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169664"/>
            <a:ext cx="4800600" cy="102412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Consulta el seguimiento y registra resultados de análisis.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3538728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53912" y="3538728"/>
            <a:ext cx="54864" cy="178308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370332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5121B"/>
                </a:solidFill>
                <a:latin typeface="Aptos"/>
              </a:defRPr>
            </a:pPr>
            <a:r>
              <a:t>Centro derivante / profesional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169664"/>
            <a:ext cx="4800600" cy="102412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8232D"/>
                </a:solidFill>
                <a:latin typeface="Aptos"/>
              </a:defRPr>
            </a:pPr>
            <a:r>
              <a:t>Solicita información y recibe confirmación de recepción.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402336"/>
            <a:ext cx="73152" cy="402336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82296"/>
            <a:ext cx="12054840" cy="6393484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F0B23FF-7325-DAAA-71AB-1AE2DCD0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804673"/>
            <a:ext cx="10725912" cy="5526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20040"/>
            <a:ext cx="1088136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32D"/>
                </a:solidFill>
                <a:latin typeface="Aptos"/>
              </a:defRPr>
            </a:pPr>
            <a:r>
              <a:rPr dirty="0"/>
              <a:t>UML / </a:t>
            </a:r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AC96DD8-AAD4-08C5-928C-9AA1BD632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0"/>
            <a:ext cx="12054840" cy="6457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D26E49E-F9BF-A399-DD88-6D9933EA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" y="0"/>
            <a:ext cx="12051601" cy="6457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7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74536"/>
            <a:ext cx="82296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1717D"/>
                </a:solidFill>
                <a:latin typeface="Aptos"/>
              </a:defRPr>
            </a:pPr>
            <a:r>
              <a:t>L&amp;A  /  METODOLOGÍA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365760" cy="2194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71924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85F01D6-A87B-8375-6C95-8616E52FF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0"/>
            <a:ext cx="12054840" cy="6457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1ADC91-1413-3DEE-E619-2E05CC9FCA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43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518</Words>
  <Application>Microsoft Office PowerPoint</Application>
  <PresentationFormat>Panorámica</PresentationFormat>
  <Paragraphs>81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Tamara</cp:lastModifiedBy>
  <cp:revision>6</cp:revision>
  <dcterms:created xsi:type="dcterms:W3CDTF">2013-01-27T09:14:16Z</dcterms:created>
  <dcterms:modified xsi:type="dcterms:W3CDTF">2026-10-22T15:28:15Z</dcterms:modified>
  <cp:category/>
</cp:coreProperties>
</file>